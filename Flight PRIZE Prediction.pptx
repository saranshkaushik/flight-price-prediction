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36ECBB32-84F1-4774-A3CE-E62144F52CA9}" type="datetimeFigureOut">
              <a:rPr lang="en-US" smtClean="0"/>
              <a:t>11/11/2021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C5BFAC-CE6A-4E67-A5DA-F1B48FA38B62}" type="slidenum">
              <a:rPr lang="en-US" smtClean="0"/>
              <a:t>‹#›</a:t>
            </a:fld>
            <a:endParaRPr lang="en-US"/>
          </a:p>
        </p:txBody>
      </p:sp>
    </p:spTree>
    <p:extLst>
      <p:ext uri="{BB962C8B-B14F-4D97-AF65-F5344CB8AC3E}">
        <p14:creationId xmlns:p14="http://schemas.microsoft.com/office/powerpoint/2010/main" val="285226238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6ECBB32-84F1-4774-A3CE-E62144F52CA9}" type="datetimeFigureOut">
              <a:rPr lang="en-US" smtClean="0"/>
              <a:t>11/11/2021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C5BFAC-CE6A-4E67-A5DA-F1B48FA38B62}" type="slidenum">
              <a:rPr lang="en-US" smtClean="0"/>
              <a:t>‹#›</a:t>
            </a:fld>
            <a:endParaRPr lang="en-US"/>
          </a:p>
        </p:txBody>
      </p:sp>
    </p:spTree>
    <p:extLst>
      <p:ext uri="{BB962C8B-B14F-4D97-AF65-F5344CB8AC3E}">
        <p14:creationId xmlns:p14="http://schemas.microsoft.com/office/powerpoint/2010/main" val="1480493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36ECBB32-84F1-4774-A3CE-E62144F52CA9}" type="datetimeFigureOut">
              <a:rPr lang="en-US" smtClean="0"/>
              <a:t>11/11/2021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C5BFAC-CE6A-4E67-A5DA-F1B48FA38B62}" type="slidenum">
              <a:rPr lang="en-US" smtClean="0"/>
              <a:t>‹#›</a:t>
            </a:fld>
            <a:endParaRPr lang="en-US"/>
          </a:p>
        </p:txBody>
      </p:sp>
    </p:spTree>
    <p:extLst>
      <p:ext uri="{BB962C8B-B14F-4D97-AF65-F5344CB8AC3E}">
        <p14:creationId xmlns:p14="http://schemas.microsoft.com/office/powerpoint/2010/main" val="385405056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36ECBB32-84F1-4774-A3CE-E62144F52CA9}" type="datetimeFigureOut">
              <a:rPr lang="en-US" smtClean="0"/>
              <a:t>11/11/2021</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03C5BFAC-CE6A-4E67-A5DA-F1B48FA38B62}" type="slidenum">
              <a:rPr lang="en-US" smtClean="0"/>
              <a:t>‹#›</a:t>
            </a:fld>
            <a:endParaRPr lang="en-US"/>
          </a:p>
        </p:txBody>
      </p:sp>
    </p:spTree>
    <p:extLst>
      <p:ext uri="{BB962C8B-B14F-4D97-AF65-F5344CB8AC3E}">
        <p14:creationId xmlns:p14="http://schemas.microsoft.com/office/powerpoint/2010/main" val="36072896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36ECBB32-84F1-4774-A3CE-E62144F52CA9}" type="datetimeFigureOut">
              <a:rPr lang="en-US" smtClean="0"/>
              <a:t>11/11/2021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C5BFAC-CE6A-4E67-A5DA-F1B48FA38B62}"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592755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6ECBB32-84F1-4774-A3CE-E62144F52CA9}" type="datetimeFigureOut">
              <a:rPr lang="en-US" smtClean="0"/>
              <a:t>11/11/2021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3C5BFAC-CE6A-4E67-A5DA-F1B48FA38B62}" type="slidenum">
              <a:rPr lang="en-US" smtClean="0"/>
              <a:t>‹#›</a:t>
            </a:fld>
            <a:endParaRPr lang="en-US"/>
          </a:p>
        </p:txBody>
      </p:sp>
    </p:spTree>
    <p:extLst>
      <p:ext uri="{BB962C8B-B14F-4D97-AF65-F5344CB8AC3E}">
        <p14:creationId xmlns:p14="http://schemas.microsoft.com/office/powerpoint/2010/main" val="34775143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ECBB32-84F1-4774-A3CE-E62144F52CA9}" type="datetimeFigureOut">
              <a:rPr lang="en-US" smtClean="0"/>
              <a:t>11/11/2021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3C5BFAC-CE6A-4E67-A5DA-F1B48FA38B62}" type="slidenum">
              <a:rPr lang="en-US" smtClean="0"/>
              <a:t>‹#›</a:t>
            </a:fld>
            <a:endParaRPr lang="en-US"/>
          </a:p>
        </p:txBody>
      </p:sp>
    </p:spTree>
    <p:extLst>
      <p:ext uri="{BB962C8B-B14F-4D97-AF65-F5344CB8AC3E}">
        <p14:creationId xmlns:p14="http://schemas.microsoft.com/office/powerpoint/2010/main" val="1092317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36ECBB32-84F1-4774-A3CE-E62144F52CA9}" type="datetimeFigureOut">
              <a:rPr lang="en-US" smtClean="0"/>
              <a:t>11/11/2021</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03C5BFAC-CE6A-4E67-A5DA-F1B48FA38B62}" type="slidenum">
              <a:rPr lang="en-US" smtClean="0"/>
              <a:t>‹#›</a:t>
            </a:fld>
            <a:endParaRPr lang="en-US"/>
          </a:p>
        </p:txBody>
      </p:sp>
    </p:spTree>
    <p:extLst>
      <p:ext uri="{BB962C8B-B14F-4D97-AF65-F5344CB8AC3E}">
        <p14:creationId xmlns:p14="http://schemas.microsoft.com/office/powerpoint/2010/main" val="12711328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36ECBB32-84F1-4774-A3CE-E62144F52CA9}" type="datetimeFigureOut">
              <a:rPr lang="en-US" smtClean="0"/>
              <a:t>11/11/2021</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03C5BFAC-CE6A-4E67-A5DA-F1B48FA38B62}" type="slidenum">
              <a:rPr lang="en-US" smtClean="0"/>
              <a:t>‹#›</a:t>
            </a:fld>
            <a:endParaRPr lang="en-US"/>
          </a:p>
        </p:txBody>
      </p:sp>
    </p:spTree>
    <p:extLst>
      <p:ext uri="{BB962C8B-B14F-4D97-AF65-F5344CB8AC3E}">
        <p14:creationId xmlns:p14="http://schemas.microsoft.com/office/powerpoint/2010/main" val="8887292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ECBB32-84F1-4774-A3CE-E62144F52CA9}" type="datetimeFigureOut">
              <a:rPr lang="en-US" smtClean="0"/>
              <a:t>11/11/2021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C5BFAC-CE6A-4E67-A5DA-F1B48FA38B62}" type="slidenum">
              <a:rPr lang="en-US" smtClean="0"/>
              <a:t>‹#›</a:t>
            </a:fld>
            <a:endParaRPr lang="en-US"/>
          </a:p>
        </p:txBody>
      </p:sp>
    </p:spTree>
    <p:extLst>
      <p:ext uri="{BB962C8B-B14F-4D97-AF65-F5344CB8AC3E}">
        <p14:creationId xmlns:p14="http://schemas.microsoft.com/office/powerpoint/2010/main" val="24595495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ECBB32-84F1-4774-A3CE-E62144F52CA9}" type="datetimeFigureOut">
              <a:rPr lang="en-US" smtClean="0"/>
              <a:t>11/11/2021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C5BFAC-CE6A-4E67-A5DA-F1B48FA38B62}" type="slidenum">
              <a:rPr lang="en-US" smtClean="0"/>
              <a:t>‹#›</a:t>
            </a:fld>
            <a:endParaRPr lang="en-US"/>
          </a:p>
        </p:txBody>
      </p:sp>
    </p:spTree>
    <p:extLst>
      <p:ext uri="{BB962C8B-B14F-4D97-AF65-F5344CB8AC3E}">
        <p14:creationId xmlns:p14="http://schemas.microsoft.com/office/powerpoint/2010/main" val="31523461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36ECBB32-84F1-4774-A3CE-E62144F52CA9}" type="datetimeFigureOut">
              <a:rPr lang="en-US" smtClean="0"/>
              <a:t>11/11/2021</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03C5BFAC-CE6A-4E67-A5DA-F1B48FA38B62}" type="slidenum">
              <a:rPr lang="en-US" smtClean="0"/>
              <a:t>‹#›</a:t>
            </a:fld>
            <a:endParaRPr lang="en-US"/>
          </a:p>
        </p:txBody>
      </p:sp>
    </p:spTree>
    <p:extLst>
      <p:ext uri="{BB962C8B-B14F-4D97-AF65-F5344CB8AC3E}">
        <p14:creationId xmlns:p14="http://schemas.microsoft.com/office/powerpoint/2010/main" val="3828071509"/>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A856C0E-E746-471D-8C49-F54E81EF8BA7}"/>
              </a:ext>
            </a:extLst>
          </p:cNvPr>
          <p:cNvSpPr>
            <a:spLocks noGrp="1"/>
          </p:cNvSpPr>
          <p:nvPr>
            <p:ph type="title"/>
          </p:nvPr>
        </p:nvSpPr>
        <p:spPr>
          <a:xfrm>
            <a:off x="372863" y="243627"/>
            <a:ext cx="11265762" cy="1008124"/>
          </a:xfrm>
        </p:spPr>
        <p:txBody>
          <a:bodyPr/>
          <a:lstStyle/>
          <a:p>
            <a:pPr algn="l"/>
            <a:r>
              <a:rPr lang="en-US" dirty="0"/>
              <a:t>Flight PRIZE Prediction                  </a:t>
            </a:r>
          </a:p>
        </p:txBody>
      </p:sp>
      <p:sp>
        <p:nvSpPr>
          <p:cNvPr id="5" name="Content Placeholder 4">
            <a:extLst>
              <a:ext uri="{FF2B5EF4-FFF2-40B4-BE49-F238E27FC236}">
                <a16:creationId xmlns:a16="http://schemas.microsoft.com/office/drawing/2014/main" id="{ABF666B3-E48A-445B-BCCB-FEE43216FB72}"/>
              </a:ext>
            </a:extLst>
          </p:cNvPr>
          <p:cNvSpPr>
            <a:spLocks noGrp="1"/>
          </p:cNvSpPr>
          <p:nvPr>
            <p:ph sz="half" idx="1"/>
          </p:nvPr>
        </p:nvSpPr>
        <p:spPr>
          <a:xfrm>
            <a:off x="257454" y="1690688"/>
            <a:ext cx="3684232" cy="4763378"/>
          </a:xfrm>
        </p:spPr>
        <p:txBody>
          <a:bodyPr>
            <a:normAutofit/>
          </a:bodyPr>
          <a:lstStyle/>
          <a:p>
            <a:r>
              <a:rPr lang="en-US" b="1" dirty="0"/>
              <a:t>Description</a:t>
            </a:r>
          </a:p>
          <a:p>
            <a:pPr marL="0" indent="0">
              <a:buNone/>
            </a:pPr>
            <a:r>
              <a:rPr lang="en-US" dirty="0"/>
              <a:t>The Machine learning model helps the user to check for a prize which could be charged while travelling through a flight from one place to another. </a:t>
            </a:r>
          </a:p>
          <a:p>
            <a:pPr marL="0" indent="0">
              <a:buNone/>
            </a:pPr>
            <a:r>
              <a:rPr lang="en-US" b="1" dirty="0"/>
              <a:t>Libraries Used</a:t>
            </a:r>
          </a:p>
          <a:p>
            <a:pPr marL="0" indent="0">
              <a:buNone/>
            </a:pPr>
            <a:r>
              <a:rPr lang="en-US" dirty="0" err="1"/>
              <a:t>Numpy</a:t>
            </a:r>
            <a:endParaRPr lang="en-US" dirty="0"/>
          </a:p>
          <a:p>
            <a:pPr marL="0" indent="0">
              <a:buNone/>
            </a:pPr>
            <a:r>
              <a:rPr lang="en-US" dirty="0"/>
              <a:t>Pandas</a:t>
            </a:r>
          </a:p>
          <a:p>
            <a:pPr marL="0" indent="0">
              <a:buNone/>
            </a:pPr>
            <a:r>
              <a:rPr lang="en-US" dirty="0" err="1"/>
              <a:t>Sklearn</a:t>
            </a:r>
            <a:endParaRPr lang="en-US" dirty="0"/>
          </a:p>
          <a:p>
            <a:pPr marL="0" indent="0">
              <a:buNone/>
            </a:pPr>
            <a:r>
              <a:rPr lang="en-US" dirty="0"/>
              <a:t>Seaborn</a:t>
            </a:r>
          </a:p>
          <a:p>
            <a:pPr marL="0" indent="0">
              <a:buNone/>
            </a:pPr>
            <a:r>
              <a:rPr lang="en-US" err="1"/>
              <a:t>Matplot</a:t>
            </a:r>
            <a:r>
              <a:rPr lang="en-US"/>
              <a:t>.lib</a:t>
            </a:r>
            <a:endParaRPr lang="en-US" dirty="0"/>
          </a:p>
        </p:txBody>
      </p:sp>
      <p:sp>
        <p:nvSpPr>
          <p:cNvPr id="6" name="Content Placeholder 5">
            <a:extLst>
              <a:ext uri="{FF2B5EF4-FFF2-40B4-BE49-F238E27FC236}">
                <a16:creationId xmlns:a16="http://schemas.microsoft.com/office/drawing/2014/main" id="{009AB284-3531-4E5A-92FE-C417B0977C2E}"/>
              </a:ext>
            </a:extLst>
          </p:cNvPr>
          <p:cNvSpPr>
            <a:spLocks noGrp="1"/>
          </p:cNvSpPr>
          <p:nvPr>
            <p:ph sz="half" idx="2"/>
          </p:nvPr>
        </p:nvSpPr>
        <p:spPr>
          <a:xfrm>
            <a:off x="4429958" y="1690688"/>
            <a:ext cx="3684232" cy="4763378"/>
          </a:xfrm>
        </p:spPr>
        <p:txBody>
          <a:bodyPr>
            <a:normAutofit/>
          </a:bodyPr>
          <a:lstStyle/>
          <a:p>
            <a:r>
              <a:rPr lang="en-US" b="1" dirty="0"/>
              <a:t>Objective</a:t>
            </a:r>
          </a:p>
          <a:p>
            <a:pPr marL="0" indent="0">
              <a:buNone/>
            </a:pPr>
            <a:r>
              <a:rPr lang="en-US" sz="1800" dirty="0">
                <a:effectLst/>
                <a:latin typeface="Times New Roman" panose="02020603050405020304" pitchFamily="18" charset="0"/>
                <a:ea typeface="Times New Roman" panose="02020603050405020304" pitchFamily="18" charset="0"/>
              </a:rPr>
              <a:t>It is possible to reduce the uncertainty of flight rider prices so here we will take predicting the flight prices using efficient machine learning techniques so that customers can also predict and choose the best prize suited to them  to reach their desired destination.</a:t>
            </a:r>
          </a:p>
          <a:p>
            <a:pPr marL="0" indent="0">
              <a:buNone/>
            </a:pPr>
            <a:r>
              <a:rPr lang="en-US" b="1" dirty="0">
                <a:latin typeface="Times New Roman" panose="02020603050405020304" pitchFamily="18" charset="0"/>
                <a:ea typeface="Times New Roman" panose="02020603050405020304" pitchFamily="18" charset="0"/>
              </a:rPr>
              <a:t>Methodology</a:t>
            </a:r>
          </a:p>
          <a:p>
            <a:pPr marL="0" indent="0">
              <a:buNone/>
            </a:pPr>
            <a:r>
              <a:rPr lang="en-US" b="0" i="0" dirty="0">
                <a:solidFill>
                  <a:srgbClr val="24292F"/>
                </a:solidFill>
                <a:effectLst/>
                <a:latin typeface="-apple-system"/>
              </a:rPr>
              <a:t>The classical machine learning tasks like Data Exploration, Data Cleaning, Feature Engineering, Model Building and Model Testing. Made many Models But selected </a:t>
            </a:r>
            <a:r>
              <a:rPr lang="en-US" b="0" i="0" dirty="0" err="1">
                <a:solidFill>
                  <a:srgbClr val="24292F"/>
                </a:solidFill>
                <a:effectLst/>
                <a:latin typeface="-apple-system"/>
              </a:rPr>
              <a:t>RandomForest</a:t>
            </a:r>
            <a:r>
              <a:rPr lang="en-US" b="0" i="0" dirty="0">
                <a:solidFill>
                  <a:srgbClr val="24292F"/>
                </a:solidFill>
                <a:effectLst/>
                <a:latin typeface="-apple-system"/>
              </a:rPr>
              <a:t> Regressor.</a:t>
            </a:r>
            <a:endParaRPr lang="en-US" sz="1800" dirty="0">
              <a:effectLst/>
              <a:latin typeface="Times New Roman" panose="02020603050405020304" pitchFamily="18" charset="0"/>
              <a:ea typeface="Times New Roman" panose="02020603050405020304" pitchFamily="18" charset="0"/>
            </a:endParaRPr>
          </a:p>
          <a:p>
            <a:pPr marL="0" indent="0">
              <a:buNone/>
            </a:pPr>
            <a:endParaRPr lang="en-US" dirty="0"/>
          </a:p>
        </p:txBody>
      </p:sp>
      <p:sp>
        <p:nvSpPr>
          <p:cNvPr id="7" name="Rectangle 6">
            <a:extLst>
              <a:ext uri="{FF2B5EF4-FFF2-40B4-BE49-F238E27FC236}">
                <a16:creationId xmlns:a16="http://schemas.microsoft.com/office/drawing/2014/main" id="{D4C67D19-30AE-4E23-B350-38EC441EC2BF}"/>
              </a:ext>
            </a:extLst>
          </p:cNvPr>
          <p:cNvSpPr/>
          <p:nvPr/>
        </p:nvSpPr>
        <p:spPr>
          <a:xfrm>
            <a:off x="7386221" y="337351"/>
            <a:ext cx="4092605" cy="79899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Saransh Kaushik</a:t>
            </a:r>
          </a:p>
          <a:p>
            <a:pPr algn="ctr"/>
            <a:r>
              <a:rPr lang="en-US" dirty="0"/>
              <a:t>07614803118</a:t>
            </a:r>
          </a:p>
        </p:txBody>
      </p:sp>
      <p:sp>
        <p:nvSpPr>
          <p:cNvPr id="12" name="Flowchart: Decision 11">
            <a:extLst>
              <a:ext uri="{FF2B5EF4-FFF2-40B4-BE49-F238E27FC236}">
                <a16:creationId xmlns:a16="http://schemas.microsoft.com/office/drawing/2014/main" id="{26553B5C-88D3-4062-91EC-F4D4CD38A8FE}"/>
              </a:ext>
            </a:extLst>
          </p:cNvPr>
          <p:cNvSpPr/>
          <p:nvPr/>
        </p:nvSpPr>
        <p:spPr>
          <a:xfrm>
            <a:off x="6454065" y="419596"/>
            <a:ext cx="772357" cy="634500"/>
          </a:xfrm>
          <a:prstGeom prst="flowChartDecision">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a:t>
            </a:r>
          </a:p>
        </p:txBody>
      </p:sp>
      <p:sp>
        <p:nvSpPr>
          <p:cNvPr id="13" name="Rectangle 12">
            <a:extLst>
              <a:ext uri="{FF2B5EF4-FFF2-40B4-BE49-F238E27FC236}">
                <a16:creationId xmlns:a16="http://schemas.microsoft.com/office/drawing/2014/main" id="{6DE52EA1-5BB2-4042-815C-34787A86BD8D}"/>
              </a:ext>
            </a:extLst>
          </p:cNvPr>
          <p:cNvSpPr/>
          <p:nvPr/>
        </p:nvSpPr>
        <p:spPr>
          <a:xfrm>
            <a:off x="8250317" y="3156011"/>
            <a:ext cx="3388308" cy="336463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nSpc>
                <a:spcPct val="115000"/>
              </a:lnSpc>
            </a:pPr>
            <a:r>
              <a:rPr lang="en-US" sz="1600" dirty="0">
                <a:effectLst/>
                <a:latin typeface="Times New Roman" panose="02020603050405020304" pitchFamily="18" charset="0"/>
                <a:ea typeface="Times New Roman" panose="02020603050405020304" pitchFamily="18" charset="0"/>
              </a:rPr>
              <a:t>Considering some of the following parameters -distance of travel, number of stops, airline, date of journey, arrival </a:t>
            </a:r>
            <a:r>
              <a:rPr lang="en-US" sz="1600" dirty="0" err="1">
                <a:effectLst/>
                <a:latin typeface="Times New Roman" panose="02020603050405020304" pitchFamily="18" charset="0"/>
                <a:ea typeface="Times New Roman" panose="02020603050405020304" pitchFamily="18" charset="0"/>
              </a:rPr>
              <a:t>time,departure</a:t>
            </a:r>
            <a:r>
              <a:rPr lang="en-US" sz="1600" dirty="0">
                <a:effectLst/>
                <a:latin typeface="Times New Roman" panose="02020603050405020304" pitchFamily="18" charset="0"/>
                <a:ea typeface="Times New Roman" panose="02020603050405020304" pitchFamily="18" charset="0"/>
              </a:rPr>
              <a:t> time  source etc. , a model is prepared which can predict the cost  journey through  the flight of a specific airline with respect to time and date.</a:t>
            </a:r>
            <a:br>
              <a:rPr lang="en-US" sz="1800" dirty="0">
                <a:effectLst/>
                <a:latin typeface="Times New Roman" panose="02020603050405020304" pitchFamily="18" charset="0"/>
                <a:ea typeface="Times New Roman" panose="02020603050405020304" pitchFamily="18" charset="0"/>
              </a:rPr>
            </a:br>
            <a:r>
              <a:rPr lang="en-US" b="1" dirty="0"/>
              <a:t>Scope</a:t>
            </a:r>
          </a:p>
          <a:p>
            <a:pPr lvl="0">
              <a:lnSpc>
                <a:spcPct val="115000"/>
              </a:lnSpc>
              <a:spcAft>
                <a:spcPts val="485"/>
              </a:spcAft>
            </a:pPr>
            <a:r>
              <a:rPr lang="en-US" sz="1600" dirty="0">
                <a:solidFill>
                  <a:srgbClr val="000000"/>
                </a:solidFill>
                <a:effectLst/>
                <a:latin typeface="Calibri" panose="020F0502020204030204" pitchFamily="34" charset="0"/>
                <a:ea typeface="Calibri" panose="020F0502020204030204" pitchFamily="34" charset="0"/>
                <a:cs typeface="Mangal" panose="02040503050203030202" pitchFamily="18" charset="0"/>
              </a:rPr>
              <a:t>Any tourist agency can make use of it for saving customer costs or consulting them about the same. Tourism group can use it for managing their travel costs </a:t>
            </a:r>
            <a:r>
              <a:rPr lang="en-US" sz="1600" dirty="0">
                <a:latin typeface="Calibri" panose="020F0502020204030204" pitchFamily="34" charset="0"/>
                <a:ea typeface="Calibri" panose="020F0502020204030204" pitchFamily="34" charset="0"/>
                <a:cs typeface="Mangal" panose="02040503050203030202" pitchFamily="18" charset="0"/>
              </a:rPr>
              <a:t>.</a:t>
            </a:r>
            <a:r>
              <a:rPr lang="en-US" sz="1600" dirty="0">
                <a:solidFill>
                  <a:srgbClr val="000000"/>
                </a:solidFill>
                <a:effectLst/>
                <a:latin typeface="Calibri" panose="020F0502020204030204" pitchFamily="34" charset="0"/>
                <a:ea typeface="Calibri" panose="020F0502020204030204" pitchFamily="34" charset="0"/>
                <a:cs typeface="Mangal" panose="02040503050203030202" pitchFamily="18" charset="0"/>
              </a:rPr>
              <a:t>This application can easily be implemented under various situations. </a:t>
            </a:r>
            <a:endParaRPr lang="en-US" dirty="0"/>
          </a:p>
          <a:p>
            <a:pPr>
              <a:lnSpc>
                <a:spcPct val="115000"/>
              </a:lnSpc>
            </a:pPr>
            <a:endParaRPr lang="en-US" dirty="0"/>
          </a:p>
          <a:p>
            <a:endParaRPr lang="en-US" dirty="0"/>
          </a:p>
          <a:p>
            <a:endParaRPr lang="en-US" dirty="0"/>
          </a:p>
          <a:p>
            <a:endParaRPr lang="en-US" dirty="0"/>
          </a:p>
          <a:p>
            <a:endParaRPr lang="en-US" dirty="0"/>
          </a:p>
        </p:txBody>
      </p:sp>
      <p:pic>
        <p:nvPicPr>
          <p:cNvPr id="15" name="Graphic 14" descr="Bar chart">
            <a:extLst>
              <a:ext uri="{FF2B5EF4-FFF2-40B4-BE49-F238E27FC236}">
                <a16:creationId xmlns:a16="http://schemas.microsoft.com/office/drawing/2014/main" id="{D731E42D-6FE1-412E-969D-01DC0838E78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495275" y="337351"/>
            <a:ext cx="798991" cy="798991"/>
          </a:xfrm>
          <a:prstGeom prst="rect">
            <a:avLst/>
          </a:prstGeom>
        </p:spPr>
      </p:pic>
      <p:pic>
        <p:nvPicPr>
          <p:cNvPr id="17" name="Graphic 16" descr="Airplane">
            <a:extLst>
              <a:ext uri="{FF2B5EF4-FFF2-40B4-BE49-F238E27FC236}">
                <a16:creationId xmlns:a16="http://schemas.microsoft.com/office/drawing/2014/main" id="{A34FBD33-AE2F-420D-9A32-040057BB94B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35210">
            <a:off x="2078796" y="3481517"/>
            <a:ext cx="1731240" cy="1731240"/>
          </a:xfrm>
          <a:prstGeom prst="rect">
            <a:avLst/>
          </a:prstGeom>
        </p:spPr>
      </p:pic>
      <p:pic>
        <p:nvPicPr>
          <p:cNvPr id="19" name="Graphic 18" descr="Gears">
            <a:extLst>
              <a:ext uri="{FF2B5EF4-FFF2-40B4-BE49-F238E27FC236}">
                <a16:creationId xmlns:a16="http://schemas.microsoft.com/office/drawing/2014/main" id="{5D5392E1-AB86-4AA8-B300-473C1026F84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806799" y="5006533"/>
            <a:ext cx="914400" cy="914400"/>
          </a:xfrm>
          <a:prstGeom prst="rect">
            <a:avLst/>
          </a:prstGeom>
        </p:spPr>
      </p:pic>
      <p:pic>
        <p:nvPicPr>
          <p:cNvPr id="21" name="Graphic 20" descr="Single gear">
            <a:extLst>
              <a:ext uri="{FF2B5EF4-FFF2-40B4-BE49-F238E27FC236}">
                <a16:creationId xmlns:a16="http://schemas.microsoft.com/office/drawing/2014/main" id="{3F29E971-E1EB-4121-8D1D-5229045DC10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029976" y="5055856"/>
            <a:ext cx="914400" cy="914400"/>
          </a:xfrm>
          <a:prstGeom prst="rect">
            <a:avLst/>
          </a:prstGeom>
        </p:spPr>
      </p:pic>
    </p:spTree>
    <p:extLst>
      <p:ext uri="{BB962C8B-B14F-4D97-AF65-F5344CB8AC3E}">
        <p14:creationId xmlns:p14="http://schemas.microsoft.com/office/powerpoint/2010/main" val="2757178145"/>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TM10001115[[fn=Parcel]]</Template>
  <TotalTime>25</TotalTime>
  <Words>216</Words>
  <Application>Microsoft Office PowerPoint</Application>
  <PresentationFormat>Widescreen</PresentationFormat>
  <Paragraphs>21</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-apple-system</vt:lpstr>
      <vt:lpstr>Arial</vt:lpstr>
      <vt:lpstr>Calibri</vt:lpstr>
      <vt:lpstr>Gill Sans MT</vt:lpstr>
      <vt:lpstr>Times New Roman</vt:lpstr>
      <vt:lpstr>Parcel</vt:lpstr>
      <vt:lpstr>Flight PRIZE Prediction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Flight PRIZE Prediction                  </dc:title>
  <dc:creator>Saransh Kaushik</dc:creator>
  <cp:lastModifiedBy>Saransh Kaushik</cp:lastModifiedBy>
  <cp:revision>7</cp:revision>
  <dcterms:created xsi:type="dcterms:W3CDTF">2021-11-08T18:17:05Z</dcterms:created>
  <dcterms:modified xsi:type="dcterms:W3CDTF">2021-11-10T23:24:44Z</dcterms:modified>
</cp:coreProperties>
</file>